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Segoe UI"/>
              </a:defRPr>
            </a:pPr>
            <a:r>
              <a:t>NATIONAL HACKATHON 2026  ·  AI &amp; ENVIRONMENTAL CONSERVATION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8FAFC"/>
                </a:solidFill>
                <a:latin typeface="Segoe UI"/>
              </a:defRPr>
            </a:pPr>
            <a:r>
              <a:t>VanRakshak AI (વનરક્ષક)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6B6D4"/>
                </a:solidFill>
                <a:latin typeface="Segoe UI"/>
              </a:defRPr>
            </a:pPr>
            <a:r>
              <a:t>Real-Time Multi-Agent AI System for Human-Wildlife Coexistence &amp; Early Warning in the Greater Gir Ecosystem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74720"/>
            <a:ext cx="2468880" cy="146304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39312"/>
            <a:ext cx="2103120" cy="11338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B981"/>
                </a:solidFill>
                <a:latin typeface="Segoe UI"/>
              </a:defRPr>
            </a:pPr>
            <a:r>
              <a:t>5 AI AGENTS</a:t>
            </a:r>
          </a:p>
          <a:p>
            <a:pPr>
              <a:spcBef>
                <a:spcPts val="300"/>
              </a:spcBef>
              <a:defRPr sz="1150" b="1">
                <a:solidFill>
                  <a:srgbClr val="F8FAFC"/>
                </a:solidFill>
                <a:latin typeface="Segoe UI"/>
              </a:defRPr>
            </a:pPr>
            <a:r>
              <a:t>Collaborative Mesh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Sequential stateful event bus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3474720"/>
            <a:ext cx="2468880" cy="146304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3639312"/>
            <a:ext cx="2103120" cy="11338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6B6D4"/>
                </a:solidFill>
                <a:latin typeface="Segoe UI"/>
              </a:defRPr>
            </a:pPr>
            <a:r>
              <a:t>0.8s SYNC</a:t>
            </a:r>
          </a:p>
          <a:p>
            <a:pPr>
              <a:spcBef>
                <a:spcPts val="300"/>
              </a:spcBef>
              <a:defRPr sz="1150" b="1">
                <a:solidFill>
                  <a:srgbClr val="F8FAFC"/>
                </a:solidFill>
                <a:latin typeface="Segoe UI"/>
              </a:defRPr>
            </a:pPr>
            <a:r>
              <a:t>WebSocket &amp; SSE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Sub-second push telemetry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474720"/>
            <a:ext cx="2468880" cy="146304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639312"/>
            <a:ext cx="2103120" cy="11338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59E0B"/>
                </a:solidFill>
                <a:latin typeface="Segoe UI"/>
              </a:defRPr>
            </a:pPr>
            <a:r>
              <a:t>48 HOURS</a:t>
            </a:r>
          </a:p>
          <a:p>
            <a:pPr>
              <a:spcBef>
                <a:spcPts val="300"/>
              </a:spcBef>
              <a:defRPr sz="1150" b="1">
                <a:solidFill>
                  <a:srgbClr val="F8FAFC"/>
                </a:solidFill>
                <a:latin typeface="Segoe UI"/>
              </a:defRPr>
            </a:pPr>
            <a:r>
              <a:t>Ex-Gratia Claims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vs 180 days legacy paperwork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3474720"/>
            <a:ext cx="2468880" cy="146304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3639312"/>
            <a:ext cx="2103120" cy="11338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B981"/>
                </a:solidFill>
                <a:latin typeface="Segoe UI"/>
              </a:defRPr>
            </a:pPr>
            <a:r>
              <a:t>100% VERNACULAR</a:t>
            </a:r>
          </a:p>
          <a:p>
            <a:pPr>
              <a:spcBef>
                <a:spcPts val="300"/>
              </a:spcBef>
              <a:defRPr sz="1150" b="1">
                <a:solidFill>
                  <a:srgbClr val="F8FAFC"/>
                </a:solidFill>
                <a:latin typeface="Segoe UI"/>
              </a:defRPr>
            </a:pPr>
            <a:r>
              <a:t>Gujarati &amp; English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Accessible to rural Maldharis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48640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Developed for Gujarat Forest Department · Asiatic Lion Conservation Landscape · Team VanRakshak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0B981"/>
                </a:solidFill>
                <a:latin typeface="Segoe UI"/>
              </a:defRPr>
            </a:pPr>
            <a:r>
              <a:t>SLIDE 02/23  ·  CONTEXT &amp; CRISIS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The Gir Dilemma: Apex Predators in Agrarian Landscapes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Segoe UI"/>
              </a:defRPr>
            </a:pPr>
            <a:r>
              <a:t>Asiatic Lions (Panthera leo leo) have outgrown protected sanctuary borders into agricultural settlements.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83280" cy="402336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2D4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21408"/>
            <a:ext cx="2926080" cy="3621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8FAFC"/>
                </a:solidFill>
                <a:latin typeface="Segoe UI"/>
              </a:defRPr>
            </a:pPr>
            <a:r>
              <a:t>Ecological Success vs Crisis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  <a:latin typeface="Segoe UI"/>
              </a:defRPr>
            </a:pPr>
            <a:r>
              <a:t>SITUATION OVERVIEW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Sanctuary Capacity: Gir Protected Area is designed for ~300 adult lions; current population exceeds 700+.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Spatial Spillover: Over 40% of pride ranges now reside outside reserve forests across 4 districts.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Global Significance: Gir is the ONLY surviving habitat of Asiatic lions on Earth; a single crisis threatens extinction.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383280" cy="402336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2D4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121408"/>
            <a:ext cx="2926080" cy="3621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8FAFC"/>
                </a:solidFill>
                <a:latin typeface="Segoe UI"/>
              </a:defRPr>
            </a:pPr>
            <a:r>
              <a:t>Ground Reality &amp; Carnivore Conflict</a:t>
            </a:r>
          </a:p>
          <a:p>
            <a:pPr>
              <a:spcBef>
                <a:spcPts val="200"/>
              </a:spcBef>
              <a:defRPr sz="950" b="1">
                <a:solidFill>
                  <a:srgbClr val="F59E0B"/>
                </a:solidFill>
                <a:latin typeface="Segoe UI"/>
              </a:defRPr>
            </a:pPr>
            <a:r>
              <a:t>THE CONFLICT ESCALATION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Livestock Depredation: 2,000+ cattle &amp; goats killed annually, causing severe economic distress to pastoralists.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Nocturnal Encounters: Lions &amp; leopards hunt in agricultural fields, mango orchards, and rural perimeters.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Human Vulnerability: Tragic human-carnivore encounters occur during early morning farming &amp; dusk transit.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20240"/>
            <a:ext cx="3383280" cy="402336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2D4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121408"/>
            <a:ext cx="2926080" cy="3621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8FAFC"/>
                </a:solidFill>
                <a:latin typeface="Segoe UI"/>
              </a:defRPr>
            </a:pPr>
            <a:r>
              <a:t>The Coexistence Breakdown</a:t>
            </a:r>
          </a:p>
          <a:p>
            <a:pPr>
              <a:spcBef>
                <a:spcPts val="200"/>
              </a:spcBef>
              <a:defRPr sz="950" b="1">
                <a:solidFill>
                  <a:srgbClr val="F43F5E"/>
                </a:solidFill>
                <a:latin typeface="Segoe UI"/>
              </a:defRPr>
            </a:pPr>
            <a:r>
              <a:t>THE FATAL RISK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Retaliatory Action: Frustrated farmers resort to illegal electric fencing, poisoning, and open well traps.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Public Panic &amp; Mobbing: Rumors trigger frantic crowds, blocking rescue teams and agitating cornered carnivores.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Urgent Imperative: A digital bridge is needed to warn villagers, dispatch rangers, and eliminate hostility.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0B981"/>
                </a:solidFill>
                <a:latin typeface="Segoe UI"/>
              </a:defRPr>
            </a:pPr>
            <a:r>
              <a:t>SLIDE 03/23  ·  BOTTLENECK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Why Traditional Wildlife Management Systems Fail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Segoe UI"/>
              </a:defRPr>
            </a:pPr>
            <a:r>
              <a:t>Manual, fragmented, and bureaucratic protocols cannot keep pace with nocturnal apex predator movements.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12080" cy="201168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2D4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21408"/>
            <a:ext cx="4754880" cy="16093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8FAFC"/>
                </a:solidFill>
                <a:latin typeface="Segoe UI"/>
              </a:defRPr>
            </a:pPr>
            <a:r>
              <a:t>Delayed Telegraphic Reporting</a:t>
            </a:r>
          </a:p>
          <a:p>
            <a:pPr>
              <a:spcBef>
                <a:spcPts val="200"/>
              </a:spcBef>
              <a:defRPr sz="950" b="1">
                <a:solidFill>
                  <a:srgbClr val="F43F5E"/>
                </a:solidFill>
                <a:latin typeface="Segoe UI"/>
              </a:defRPr>
            </a:pPr>
            <a:r>
              <a:t>REACTIVE BLINDSPOT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4 to 6 Hour Lag: Sightings travel via phone calls and physical informers. By arrival, carnivores have moved 5+ km.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No Centralized Telemetry: Field guard reports remain siloed in paper registers and localized phone groups.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201168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2D4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121408"/>
            <a:ext cx="4754880" cy="16093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8FAFC"/>
                </a:solidFill>
                <a:latin typeface="Segoe UI"/>
              </a:defRPr>
            </a:pPr>
            <a:r>
              <a:t>180-Day Compensation Agony</a:t>
            </a:r>
          </a:p>
          <a:p>
            <a:pPr>
              <a:spcBef>
                <a:spcPts val="200"/>
              </a:spcBef>
              <a:defRPr sz="950" b="1">
                <a:solidFill>
                  <a:srgbClr val="F43F5E"/>
                </a:solidFill>
                <a:latin typeface="Segoe UI"/>
              </a:defRPr>
            </a:pPr>
            <a:r>
              <a:t>ECONOMIC HARDSHIP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Excessive Bureaucracy: Farmers wait 6+ months for livestock ex-gratia compensation due to physical Panchnama audits.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Fuel for Retaliation: Prolonged financial hardship breeds direct anger against wildlife preservation policies.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5212080" cy="201168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2D4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407407"/>
            <a:ext cx="4754880" cy="16093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8FAFC"/>
                </a:solidFill>
                <a:latin typeface="Segoe UI"/>
              </a:defRPr>
            </a:pPr>
            <a:r>
              <a:t>Zero Predictive Intelligence</a:t>
            </a:r>
          </a:p>
          <a:p>
            <a:pPr>
              <a:spcBef>
                <a:spcPts val="200"/>
              </a:spcBef>
              <a:defRPr sz="950" b="1">
                <a:solidFill>
                  <a:srgbClr val="F59E0B"/>
                </a:solidFill>
                <a:latin typeface="Segoe UI"/>
              </a:defRPr>
            </a:pPr>
            <a:r>
              <a:t>ABSENCE OF FORECASTING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Static Pin Maps: Current forest maps show past incidents, offering zero forecast of where an animal is heading next.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Unwarned Villagers: Farmers harvest crops unaware that a pride is resting 300 meters away in dense scrubland.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206240"/>
            <a:ext cx="5212080" cy="201168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2D4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407407"/>
            <a:ext cx="4754880" cy="16093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8FAFC"/>
                </a:solidFill>
                <a:latin typeface="Segoe UI"/>
              </a:defRPr>
            </a:pPr>
            <a:r>
              <a:t>Vernacular &amp; Digital Divide</a:t>
            </a:r>
          </a:p>
          <a:p>
            <a:pPr>
              <a:spcBef>
                <a:spcPts val="200"/>
              </a:spcBef>
              <a:defRPr sz="950" b="1">
                <a:solidFill>
                  <a:srgbClr val="F59E0B"/>
                </a:solidFill>
                <a:latin typeface="Segoe UI"/>
              </a:defRPr>
            </a:pPr>
            <a:r>
              <a:t>ACCESSIBILITY BARRIER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English-Centric Apps: Existing portals fail because local Maldhari pastoralists speak Gujarati and lack technical literacy.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No Edge Connectivity: Jungle fringes suffer cellular dead zones where traditional web apps become unusable.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0B981"/>
                </a:solidFill>
                <a:latin typeface="Segoe UI"/>
              </a:defRPr>
            </a:pPr>
            <a:r>
              <a:t>SLIDE 04/23  ·  SOLUTION PARADIGM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VanRakshak AI: Autonomous Coexistence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Segoe UI"/>
              </a:defRPr>
            </a:pPr>
            <a:r>
              <a:t>An integrated multi-agent ecosystem uniting Forest Range Officers, Field Beat Guards, and 200,000+ Villagers.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83280" cy="329184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2D4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21408"/>
            <a:ext cx="2926080" cy="2889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8FAFC"/>
                </a:solidFill>
                <a:latin typeface="Segoe UI"/>
              </a:defRPr>
            </a:pPr>
            <a:r>
              <a:t>1. PROACTIVE PREDICTION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  <a:latin typeface="Segoe UI"/>
              </a:defRPr>
            </a:pPr>
            <a:r>
              <a:t>ANTICIPATE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Before Conflict Occurs: Machine Learning models predict wildlife movement corridors and compute village vulnerability.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Spatio-Temporal ML: Evaluates time of day, waterholes, livestock density, and historical movement paths.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Early Strategic Advantage: Allows beat guards to position patrol units ahead of predator movement.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383280" cy="329184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2D4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121408"/>
            <a:ext cx="2926080" cy="2889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8FAFC"/>
                </a:solidFill>
                <a:latin typeface="Segoe UI"/>
              </a:defRPr>
            </a:pPr>
            <a:r>
              <a:t>2. INSTANT LIVE ALERTS</a:t>
            </a:r>
          </a:p>
          <a:p>
            <a:pPr>
              <a:spcBef>
                <a:spcPts val="200"/>
              </a:spcBef>
              <a:defRPr sz="950" b="1">
                <a:solidFill>
                  <a:srgbClr val="06B6D4"/>
                </a:solidFill>
                <a:latin typeface="Segoe UI"/>
              </a:defRPr>
            </a:pPr>
            <a:r>
              <a:t>WARN &amp; PROTECT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During Sighting Incident: Sub-second geo-targeted alerts dispatched in Gujarati, Hindi &amp; English.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Multi-Channel Broadcast: Automated IVR calls, geo-fenced SMS, siren triggers, and citizen radar updates.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Actionable Guidance: Gives specific safety instructions: 'Keep livestock in pens', 'Avoid walking at dusk'.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20240"/>
            <a:ext cx="3383280" cy="329184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2D4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121408"/>
            <a:ext cx="2926080" cy="2889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8FAFC"/>
                </a:solidFill>
                <a:latin typeface="Segoe UI"/>
              </a:defRPr>
            </a:pPr>
            <a:r>
              <a:t>3. RAPID RESTITUTION</a:t>
            </a:r>
          </a:p>
          <a:p>
            <a:pPr>
              <a:spcBef>
                <a:spcPts val="200"/>
              </a:spcBef>
              <a:defRPr sz="950" b="1">
                <a:solidFill>
                  <a:srgbClr val="F59E0B"/>
                </a:solidFill>
                <a:latin typeface="Segoe UI"/>
              </a:defRPr>
            </a:pPr>
            <a:r>
              <a:t>COMPENSATE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After Livestock Depredation: Transforms 180-day manual paperwork into a 48-hour digital Direct Benefit Transfer.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AI Panchnama &amp; Forensics: Automated geotagged photo audit and puncture pattern verification.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Restoring Community Trust: Immediate compensation eliminates the incentive for retaliatory killings.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94960"/>
            <a:ext cx="3383280" cy="109728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559552"/>
            <a:ext cx="3017520" cy="768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B981"/>
                </a:solidFill>
                <a:latin typeface="Segoe UI"/>
              </a:defRPr>
            </a:pPr>
            <a:r>
              <a:t>85% REDUCTION</a:t>
            </a:r>
          </a:p>
          <a:p>
            <a:pPr>
              <a:spcBef>
                <a:spcPts val="300"/>
              </a:spcBef>
              <a:defRPr sz="1150" b="1">
                <a:solidFill>
                  <a:srgbClr val="F8FAFC"/>
                </a:solidFill>
                <a:latin typeface="Segoe UI"/>
              </a:defRPr>
            </a:pPr>
            <a:r>
              <a:t>In Unexpected Encounters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5394960"/>
            <a:ext cx="3383280" cy="109728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5559552"/>
            <a:ext cx="3017520" cy="768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6B6D4"/>
                </a:solidFill>
                <a:latin typeface="Segoe UI"/>
              </a:defRPr>
            </a:pPr>
            <a:r>
              <a:t>48 HOURS SLA</a:t>
            </a:r>
          </a:p>
          <a:p>
            <a:pPr>
              <a:spcBef>
                <a:spcPts val="300"/>
              </a:spcBef>
              <a:defRPr sz="1150" b="1">
                <a:solidFill>
                  <a:srgbClr val="F8FAFC"/>
                </a:solidFill>
                <a:latin typeface="Segoe UI"/>
              </a:defRPr>
            </a:pPr>
            <a:r>
              <a:t>Fast-Track Digital Ex-Gratia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5394960"/>
            <a:ext cx="3383280" cy="109728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5559552"/>
            <a:ext cx="3017520" cy="768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59E0B"/>
                </a:solidFill>
                <a:latin typeface="Segoe UI"/>
              </a:defRPr>
            </a:pPr>
            <a:r>
              <a:t>120+ VILLAGES</a:t>
            </a:r>
          </a:p>
          <a:p>
            <a:pPr>
              <a:spcBef>
                <a:spcPts val="300"/>
              </a:spcBef>
              <a:defRPr sz="1150" b="1">
                <a:solidFill>
                  <a:srgbClr val="F8FAFC"/>
                </a:solidFill>
                <a:latin typeface="Segoe UI"/>
              </a:defRPr>
            </a:pPr>
            <a:r>
              <a:t>Covered in Greater Gir Area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0B981"/>
                </a:solidFill>
                <a:latin typeface="Segoe UI"/>
              </a:defRPr>
            </a:pPr>
            <a:r>
              <a:t>SLIDE 05/23  ·  ARCHITECTURE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End-to-End System Architecture: 4-Tier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Segoe UI"/>
              </a:defRPr>
            </a:pPr>
            <a:r>
              <a:t>Distributed edge-to-cloud architecture designed for high availability, fault tolerance, and sub-second telemetry.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468880" cy="438912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2D4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21408"/>
            <a:ext cx="2011680" cy="3986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8FAFC"/>
                </a:solidFill>
                <a:latin typeface="Segoe UI"/>
              </a:defRPr>
            </a:pPr>
            <a:r>
              <a:t>TIER 1: EDGE SENSING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  <a:latin typeface="Segoe UI"/>
              </a:defRPr>
            </a:pPr>
            <a:r>
              <a:t>INGESTION LAYER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LoRaWAN Camera Traps: PIR + Thermal triggers with on-device YOLO-tiny inference.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Bioacoustic Sensors: Real-time acoustic analysis for carnivore vocalizations.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GPS Wildlife Collars: Live satellite telemetry ingested via secure APIs.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Citizen Reports: Crowdsourced sighting capture with automatic GPS tagging.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920240"/>
            <a:ext cx="2468880" cy="438912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2D4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121408"/>
            <a:ext cx="2011680" cy="3986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8FAFC"/>
                </a:solidFill>
                <a:latin typeface="Segoe UI"/>
              </a:defRPr>
            </a:pPr>
            <a:r>
              <a:t>TIER 2: AI AGENT MESH</a:t>
            </a:r>
          </a:p>
          <a:p>
            <a:pPr>
              <a:spcBef>
                <a:spcPts val="200"/>
              </a:spcBef>
              <a:defRPr sz="950" b="1">
                <a:solidFill>
                  <a:srgbClr val="06B6D4"/>
                </a:solidFill>
                <a:latin typeface="Segoe UI"/>
              </a:defRPr>
            </a:pPr>
            <a:r>
              <a:t>INTELLIGENCE LAYER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Central Orchestrator: Sequential state machine coordinating all 5 autonomous agents.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Movement Agent: Random Forest corridor prediction and perimeter decay.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Alert Agent: Trilingual payload compilation &amp; multi-channel routing.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Response Agent: Nearest patrol dispatch &amp; equipment SOP.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Compensation Agent: Panchnama verification &amp; DBT pipeline.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2468880" cy="438912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2D4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121408"/>
            <a:ext cx="2011680" cy="3986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8FAFC"/>
                </a:solidFill>
                <a:latin typeface="Segoe UI"/>
              </a:defRPr>
            </a:pPr>
            <a:r>
              <a:t>TIER 3: STREAMING ENGINE</a:t>
            </a:r>
          </a:p>
          <a:p>
            <a:pPr>
              <a:spcBef>
                <a:spcPts val="200"/>
              </a:spcBef>
              <a:defRPr sz="950" b="1">
                <a:solidFill>
                  <a:srgbClr val="F59E0B"/>
                </a:solidFill>
                <a:latin typeface="Segoe UI"/>
              </a:defRPr>
            </a:pPr>
            <a:r>
              <a:t>COMMUNICATION BUS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WebSocket Engine: High-concurrency async daemon running on Port 8765.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SSE Fallback Stream: HTTP Server-Sent Events for bandwidth-constrained rural networks.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REST API Layer: FastAPI / Flask endpoints for secure CRUD &amp; state inspection.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In-Memory State Cache: Zero-lock synchronization across connected mobile &amp; desktop devices.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920240"/>
            <a:ext cx="2468880" cy="438912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2D4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9720" y="2121408"/>
            <a:ext cx="2011680" cy="3986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8FAFC"/>
                </a:solidFill>
                <a:latin typeface="Segoe UI"/>
              </a:defRPr>
            </a:pPr>
            <a:r>
              <a:t>TIER 4: UNIFIED PORTALS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  <a:latin typeface="Segoe UI"/>
              </a:defRPr>
            </a:pPr>
            <a:r>
              <a:t>STAKEHOLDER INTERFACES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Officer Command GIS: Interactive Leaflet map, threat overrides, patrol dispatch, and audit trail.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Citizen Coexistence PWA: On-demand Safety Radar, Gujarati localization, 1926 SOS speed dial.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Beat Guard Mobile View: Field incident check-in and digital Panchnama capture.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0B981"/>
                </a:solidFill>
                <a:latin typeface="Segoe UI"/>
              </a:defRPr>
            </a:pPr>
            <a:r>
              <a:t>SLIDE 06/23  ·  MULTI-AGENT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The 5-Agent Collaborative AI Collective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Segoe UI"/>
              </a:defRPr>
            </a:pPr>
            <a:r>
              <a:t>Specialized, autonomous AI agents executing in an orchestrated pipeline with Human-in-the-Loop governance.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83280" cy="201168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2D4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21408"/>
            <a:ext cx="2926080" cy="16093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8FAFC"/>
                </a:solidFill>
                <a:latin typeface="Segoe UI"/>
              </a:defRPr>
            </a:pPr>
            <a:r>
              <a:t>1. MovementAgent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  <a:latin typeface="Segoe UI"/>
              </a:defRPr>
            </a:pPr>
            <a:r>
              <a:t>SPATIAL PREDICTION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Trajectory Modeling: Evaluates velocity, directional bias, and waterhole attraction.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Boundary Incursion: Flags when wildlife approaches within 3km of village perimeters.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383280" cy="201168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2D4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121408"/>
            <a:ext cx="2926080" cy="16093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8FAFC"/>
                </a:solidFill>
                <a:latin typeface="Segoe UI"/>
              </a:defRPr>
            </a:pPr>
            <a:r>
              <a:t>2. AlertAgent</a:t>
            </a:r>
          </a:p>
          <a:p>
            <a:pPr>
              <a:spcBef>
                <a:spcPts val="200"/>
              </a:spcBef>
              <a:defRPr sz="950" b="1">
                <a:solidFill>
                  <a:srgbClr val="06B6D4"/>
                </a:solidFill>
                <a:latin typeface="Segoe UI"/>
              </a:defRPr>
            </a:pPr>
            <a:r>
              <a:t>BROADCAST ENGINE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Trilingual Synthesis: Drafts contextual warnings in Gujarati, Hindi &amp; English.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Channel Selection: Routes critical alerts to IVR calls, SMS, and village sirens.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20240"/>
            <a:ext cx="3383280" cy="201168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2D4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121408"/>
            <a:ext cx="2926080" cy="16093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8FAFC"/>
                </a:solidFill>
                <a:latin typeface="Segoe UI"/>
              </a:defRPr>
            </a:pPr>
            <a:r>
              <a:t>3. ResponseAgent</a:t>
            </a:r>
          </a:p>
          <a:p>
            <a:pPr>
              <a:spcBef>
                <a:spcPts val="200"/>
              </a:spcBef>
              <a:defRPr sz="950" b="1">
                <a:solidFill>
                  <a:srgbClr val="F59E0B"/>
                </a:solidFill>
                <a:latin typeface="Segoe UI"/>
              </a:defRPr>
            </a:pPr>
            <a:r>
              <a:t>LOGISTICS &amp; DISPATCH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Patrol Dispatch: Assigns closest Rapid Response Team (RRT) based on Haversine distance.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Equipment Checklist: Prescribes rescue gear (tranquilizer, cage, spotlight vehicle).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06240"/>
            <a:ext cx="3383280" cy="201168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2D4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07407"/>
            <a:ext cx="2926080" cy="16093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8FAFC"/>
                </a:solidFill>
                <a:latin typeface="Segoe UI"/>
              </a:defRPr>
            </a:pPr>
            <a:r>
              <a:t>4. CompensationAgent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  <a:latin typeface="Segoe UI"/>
              </a:defRPr>
            </a:pPr>
            <a:r>
              <a:t>FINANCIAL RESTITUTION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Digital Panchnama: Audits geotagged evidence, vet autopsy docs, and witness sign-offs.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Automated Tariff: Calculates Gujarat Forest Dept ex-gratia amount in 48 hours.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4206240"/>
            <a:ext cx="3383280" cy="201168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2D4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4407407"/>
            <a:ext cx="2926080" cy="16093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8FAFC"/>
                </a:solidFill>
                <a:latin typeface="Segoe UI"/>
              </a:defRPr>
            </a:pPr>
            <a:r>
              <a:t>5. HotspotAgent</a:t>
            </a:r>
          </a:p>
          <a:p>
            <a:pPr>
              <a:spcBef>
                <a:spcPts val="200"/>
              </a:spcBef>
              <a:defRPr sz="950" b="1">
                <a:solidFill>
                  <a:srgbClr val="06B6D4"/>
                </a:solidFill>
                <a:latin typeface="Segoe UI"/>
              </a:defRPr>
            </a:pPr>
            <a:r>
              <a:t>LANDSCAPE ANALYTICS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DBSCAN Spatial Clustering: Identifies emerging conflict clusters and migratory choke points.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Dynamic Risk Recalibration: Updates baseline vulnerability scores across 120+ villages.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4206240"/>
            <a:ext cx="3383280" cy="201168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2D4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4407407"/>
            <a:ext cx="2926080" cy="16093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8FAFC"/>
                </a:solidFill>
                <a:latin typeface="Segoe UI"/>
              </a:defRPr>
            </a:pPr>
            <a:r>
              <a:t>Human-in-the-Loop (HITL)</a:t>
            </a:r>
          </a:p>
          <a:p>
            <a:pPr>
              <a:spcBef>
                <a:spcPts val="200"/>
              </a:spcBef>
              <a:defRPr sz="950" b="1">
                <a:solidFill>
                  <a:srgbClr val="F43F5E"/>
                </a:solidFill>
                <a:latin typeface="Segoe UI"/>
              </a:defRPr>
            </a:pPr>
            <a:r>
              <a:t>SAFETY GOVERNANCE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Officer Oversight: High-severity actions require one-click Range Forest Officer approval.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Immutable Audit Log: All agent recommendations and officer overrides are permanently recorded.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0B981"/>
                </a:solidFill>
                <a:latin typeface="Segoe UI"/>
              </a:defRPr>
            </a:pPr>
            <a:r>
              <a:t>SLIDE 07/23  ·  AGENT DEEP DIVE · MOVEMENT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Agent 1: Movement &amp; Trajectory Predictor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Segoe UI"/>
              </a:defRPr>
            </a:pPr>
            <a:r>
              <a:t>Utilizing Random Forest machine learning and spatial decay physics to anticipate predator transit paths.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12080" cy="438912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2D4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21408"/>
            <a:ext cx="4754880" cy="3986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8FAFC"/>
                </a:solidFill>
                <a:latin typeface="Segoe UI"/>
              </a:defRPr>
            </a:pPr>
            <a:r>
              <a:t>Machine Learning Classification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  <a:latin typeface="Segoe UI"/>
              </a:defRPr>
            </a:pPr>
            <a:r>
              <a:t>ML ARCHITECTURE &amp; FEATURES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Algorithm: Supervised Random Forest Classifier trained on spatio-temporal sighting telemetry.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Classification Target: 3-Class Risk Zone: HIGH (red), MEDIUM (amber), LOW (green).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7-Dimensional Feature Vector: 1. Recency-weighted sighting frequency</a:t>
            </a:r>
            <a:br/>
            <a:r>
              <a:t>2. Distance to nearest human settlement</a:t>
            </a:r>
            <a:br/>
            <a:r>
              <a:t>3. Time-of-day behavioral risk index</a:t>
            </a:r>
            <a:br/>
            <a:r>
              <a:t>4. Historical 30-day incident density</a:t>
            </a:r>
            <a:br/>
            <a:r>
              <a:t>5. Livestock corral density in sector</a:t>
            </a:r>
            <a:br/>
            <a:r>
              <a:t>6. Proximity to perennial waterbodies</a:t>
            </a:r>
            <a:br/>
            <a:r>
              <a:t>7. Vegetative cover and terrain roughness.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Inference Speed: &lt; 15 milliseconds execution time per detection event.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38912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2D4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121408"/>
            <a:ext cx="4754880" cy="3986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8FAFC"/>
                </a:solidFill>
                <a:latin typeface="Segoe UI"/>
              </a:defRPr>
            </a:pPr>
            <a:r>
              <a:t>Perimeter Decay &amp; Buffer Zones</a:t>
            </a:r>
          </a:p>
          <a:p>
            <a:pPr>
              <a:spcBef>
                <a:spcPts val="200"/>
              </a:spcBef>
              <a:defRPr sz="950" b="1">
                <a:solidFill>
                  <a:srgbClr val="06B6D4"/>
                </a:solidFill>
                <a:latin typeface="Segoe UI"/>
              </a:defRPr>
            </a:pPr>
            <a:r>
              <a:t>PHYSICS &amp; SPATIAL DECAY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Dynamic Buffer Thresholds: Evaluates exponential distance decay relative to village outer boundaries: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Critical Zone (&lt; 0.8 km): Carnivore within immediate village periphery. Automatic priority escalation to Alert &amp; Response agents.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High Alert Zone (0.8 - 1.5 km): Active predator movement monitored. Pre-alert sent to village beat guard and sarpanch.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Advisory Zone (1.5 - 3.0 km): Normal territorial movement; logged into spatial hotspot queue.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Nocturnal Multiplier: Risk scores scale by 1.8x between 19:00 - 05:30 to account for apex predator nocturnal hunting patterns.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0B981"/>
                </a:solidFill>
                <a:latin typeface="Segoe UI"/>
              </a:defRPr>
            </a:pPr>
            <a:r>
              <a:t>SLIDE 08/23  ·  AGENT DEEP DIVE · ALERTS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Agent 2: Trilingual Multi-Channel Alert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Segoe UI"/>
              </a:defRPr>
            </a:pPr>
            <a:r>
              <a:t>Generating culturally resonant, localized warnings delivered to vulnerable villagers in under 1 second.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12080" cy="438912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2D4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21408"/>
            <a:ext cx="4754880" cy="3986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8FAFC"/>
                </a:solidFill>
                <a:latin typeface="Segoe UI"/>
              </a:defRPr>
            </a:pPr>
            <a:r>
              <a:t>Vernacular Language Synthesis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  <a:latin typeface="Segoe UI"/>
              </a:defRPr>
            </a:pPr>
            <a:r>
              <a:t>LOCALIZATION MATRIX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Zero Cultural Barrier: Alerts are automatically generated in native Gujarati (ગુજરાતી), Hindi &amp; English.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Sample Gujarati Output: 'ચેતવણી: સાસણ ગીર સીમ વિસ્તારમાં સિંહની હિલચાલ નોંધાઈ છે (૦.૮ કિમી). પશુધનને વાડામાં રાખો. રાત્રે બહાર જવાનું ટાળો.'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Sample English Output: 'WARNING: Asiatic Lion movement recorded within 0.8 km of Sasan Gir perimeter. Secure livestock in covered pens. Avoid night transit.'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Contextual Advisories: Includes actionable survival guidelines tailored to predator species (Lion vs Leopard).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38912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2D4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121408"/>
            <a:ext cx="4754880" cy="3986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8FAFC"/>
                </a:solidFill>
                <a:latin typeface="Segoe UI"/>
              </a:defRPr>
            </a:pPr>
            <a:r>
              <a:t>Multi-Tier Dispatch Pipeline</a:t>
            </a:r>
          </a:p>
          <a:p>
            <a:pPr>
              <a:spcBef>
                <a:spcPts val="200"/>
              </a:spcBef>
              <a:defRPr sz="950" b="1">
                <a:solidFill>
                  <a:srgbClr val="06B6D4"/>
                </a:solidFill>
                <a:latin typeface="Segoe UI"/>
              </a:defRPr>
            </a:pPr>
            <a:r>
              <a:t>OMNICHANNEL DELIVERY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Tier A: Critical Alert (&lt; 1 km): Automated Gujarati IVR Voice Call to registered village mobile numbers + Village siren trigger + High-priority SMS.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Tier B: High Alert (1 - 2 km): Geo-fenced SMS broadcast to all SIMs registered within cell tower sectors + WhatsApp Community Broadcast.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Tier C: Advisory Notice (&gt; 2 km): Citizen Web Portal update + Range Forest Beat Guard patrol bulletin.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Delivery Latency: Average broadcast dissemination completed within 800 milliseconds from AI verification.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0B981"/>
                </a:solidFill>
                <a:latin typeface="Segoe UI"/>
              </a:defRPr>
            </a:pPr>
            <a:r>
              <a:t>SLIDE 09/23  ·  AGENT DEEP DIVE · LOGISTICS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Agent 3: Rapid Response Team (RRT) Dispatcher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Segoe UI"/>
              </a:defRPr>
            </a:pPr>
            <a:r>
              <a:t>Intelligent field logistics: dynamic shortest-path patrol routing, resource allocation, and SOP generation.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12080" cy="438912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2D4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21408"/>
            <a:ext cx="4754880" cy="3986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8FAFC"/>
                </a:solidFill>
                <a:latin typeface="Segoe UI"/>
              </a:defRPr>
            </a:pPr>
            <a:r>
              <a:t>Dynamic Beat Assignment</a:t>
            </a:r>
          </a:p>
          <a:p>
            <a:pPr>
              <a:spcBef>
                <a:spcPts val="200"/>
              </a:spcBef>
              <a:defRPr sz="950" b="1">
                <a:solidFill>
                  <a:srgbClr val="F59E0B"/>
                </a:solidFill>
                <a:latin typeface="Segoe UI"/>
              </a:defRPr>
            </a:pPr>
            <a:r>
              <a:t>DISPATCH INTELLIGENCE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Haversine Proximity Calculation: Continuously calculates shortest terrain path from active patrol vehicles to the sighting coordinates.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Vehicle Status Awareness: Tracks patrol unit status in real time: Available, In Transit, On Scene, or Relocating.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Automated Route Guidance: Dispatches turn-by-turn navigation coordinates to the patrol vehicle tablet terminal.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Estimated Time of Arrival (ETA): Calculates realistic jungle transit ETA taking seasonal dirt tracks and river crossings into account.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38912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2D4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121408"/>
            <a:ext cx="4754880" cy="3986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8FAFC"/>
                </a:solidFill>
                <a:latin typeface="Segoe UI"/>
              </a:defRPr>
            </a:pPr>
            <a:r>
              <a:t>Adaptive SOP &amp; Equipment Checklist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  <a:latin typeface="Segoe UI"/>
              </a:defRPr>
            </a:pPr>
            <a:r>
              <a:t>FIELD READINESS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Species-Specific Protocols: Automatically selects appropriate operational equipment based on predator category: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Lion Encounter Kit: Reinforced transport cage, tranquilizer dart rifle with ketamine dosage, searchlight vehicle, nylon nets.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Leopard Rescue Kit: Hydraulic squeeze cage, trap box, pole syringe, protective bite suits, thermal drone.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Human-in-the-Loop Verification: Range Forest Officer (RFO) receives a one-click 'Approve Dispatch' modal with full situational intelligence before sirens trigger.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0B981"/>
                </a:solidFill>
                <a:latin typeface="Segoe UI"/>
              </a:defRPr>
            </a:pPr>
            <a:r>
              <a:t>SLIDE 10/23  ·  AGENT DEEP DIVE · RESTITUTION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Agent 4: Fast-Track Digital Compensation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Segoe UI"/>
              </a:defRPr>
            </a:pPr>
            <a:r>
              <a:t>Transforming 180-day bureaucratic trauma into a transparent 48-hour Direct Benefit Transfer (DBT).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12080" cy="438912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2D4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21408"/>
            <a:ext cx="4754880" cy="3986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8FAFC"/>
                </a:solidFill>
                <a:latin typeface="Segoe UI"/>
              </a:defRPr>
            </a:pPr>
            <a:r>
              <a:t>Digital Panchnama Ingestion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  <a:latin typeface="Segoe UI"/>
              </a:defRPr>
            </a:pPr>
            <a:r>
              <a:t>DIGITAL PANCHNAMA PIPELINE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Field Evidence Upload: Beat guard or affected farmer captures geotagged, timestamped photo evidence of the carcass directly via smartphone.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AI Forensic Wound Analysis: Computer vision model analyzes puncture wound diameter and spacing to distinguish lion canine marks from leopard bites or feral dogs.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Document Automation: Instantly compiles the Panchnama dossier including GPS coordinates, witness e-signatures, and beat officer sign-off.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Fraud Prevention: Prevents duplicate claims by checking image EXIF hashes against existing claim databases.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38912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2D4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121408"/>
            <a:ext cx="4754880" cy="3986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8FAFC"/>
                </a:solidFill>
                <a:latin typeface="Segoe UI"/>
              </a:defRPr>
            </a:pPr>
            <a:r>
              <a:t>48-Hour DBT Ex-Gratia Settlement</a:t>
            </a:r>
          </a:p>
          <a:p>
            <a:pPr>
              <a:spcBef>
                <a:spcPts val="200"/>
              </a:spcBef>
              <a:defRPr sz="950" b="1">
                <a:solidFill>
                  <a:srgbClr val="06B6D4"/>
                </a:solidFill>
                <a:latin typeface="Segoe UI"/>
              </a:defRPr>
            </a:pPr>
            <a:r>
              <a:t>DIRECT BENEFIT TRANSFER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Tariff Rule Engine: Applies Gujarat Forest Department gazetted compensation rates automatically: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Milch Cattle (Cow / Buffalo): ₹30,000 - ₹50,000 direct payout upon verified carnivore predation.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Goat / Sheep / Calves: ₹3,000 - ₹10,000 per head calculated instantly.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Transparent Claim Tracking: Villagers receive a unique Tracking ID (e.g., CLM-8291) with real-time SMS progress updates.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Direct Bank Transfer: Approved claims link directly to the farmer's Aadhaar-seeded bank account within 48 hours.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0B981"/>
                </a:solidFill>
                <a:latin typeface="Segoe UI"/>
              </a:defRPr>
            </a:pPr>
            <a:r>
              <a:t>SLIDE 11/23  ·  AGENT DEEP DIVE · SPATIAL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Agent 5: Spatial Hotspot &amp; Clustering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Segoe UI"/>
              </a:defRPr>
            </a:pPr>
            <a:r>
              <a:t>DBSCAN spatial density clustering and Kernel Density Estimation for proactive landscape management.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12080" cy="438912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2D4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21408"/>
            <a:ext cx="4754880" cy="3986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8FAFC"/>
                </a:solidFill>
                <a:latin typeface="Segoe UI"/>
              </a:defRPr>
            </a:pPr>
            <a:r>
              <a:t>DBSCAN Spatial Clustering</a:t>
            </a:r>
          </a:p>
          <a:p>
            <a:pPr>
              <a:spcBef>
                <a:spcPts val="200"/>
              </a:spcBef>
              <a:defRPr sz="950" b="1">
                <a:solidFill>
                  <a:srgbClr val="06B6D4"/>
                </a:solidFill>
                <a:latin typeface="Segoe UI"/>
              </a:defRPr>
            </a:pPr>
            <a:r>
              <a:t>CLUSTERING ALGORITHM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Density-Based Algorithm: Executes DBSCAN (Density-Based Spatial Clustering of Applications with Noise) on sighting coordinates.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Hyperparameters: Epsilon radius = 2.5 km, Minimum samples = 4 sightings within a rolling 14-day window.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Cluster Centroid Isolation: Computes geographic centroid of recurring incursions to identify emerging conflict corridors.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Noise Elimination: Filters out isolated, transient sightings from structural territorial shifts.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38912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2D4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121408"/>
            <a:ext cx="4754880" cy="3986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8FAFC"/>
                </a:solidFill>
                <a:latin typeface="Segoe UI"/>
              </a:defRPr>
            </a:pPr>
            <a:r>
              <a:t>Kernel Density &amp; Village Risk Tuning</a:t>
            </a:r>
          </a:p>
          <a:p>
            <a:pPr>
              <a:spcBef>
                <a:spcPts val="200"/>
              </a:spcBef>
              <a:defRPr sz="950" b="1">
                <a:solidFill>
                  <a:srgbClr val="F59E0B"/>
                </a:solidFill>
                <a:latin typeface="Segoe UI"/>
              </a:defRPr>
            </a:pPr>
            <a:r>
              <a:t>LANDSCAPE INTELLIGENCE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KDE Heatmap Visualization: Generates continuous spatial density surfaces showing seasonal migration patterns (Monsoon vs Summer).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Dynamic Baseline Risk Tuning: Automatically recalculates the baseline vulnerability index of surrounding villages: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High-Risk Villages: Sasan Gir (88%), Dhari (76%), Talala (65%), Visavadar (58%).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Infrastructure Recommendations: Generates data-driven proposals for forest departments: optimal placement of solar high-mast lights and farm-well covers.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0B981"/>
                </a:solidFill>
                <a:latin typeface="Segoe UI"/>
              </a:defRPr>
            </a:pPr>
            <a:r>
              <a:t>SLIDE 12/23  ·  DATA SCIENCE &amp;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Mathematical Formulation: Composite Risk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Segoe UI"/>
              </a:defRPr>
            </a:pPr>
            <a:r>
              <a:t>A transparent, auditable, multi-factor mathematical formulation powering real-time risk classification.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10728655" cy="1188720"/>
          </a:xfrm>
          <a:prstGeom prst="roundRect">
            <a:avLst/>
          </a:prstGeom>
          <a:solidFill>
            <a:srgbClr val="1A3027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362895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Segoe UI"/>
              </a:defRPr>
            </a:pPr>
            <a:r>
              <a:t>Conflict Risk Score = 0.30×P + 0.20×M + 0.15×T + 0.15×L + 0.10×H + 0.10×E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All component scores normalized to [0.0, 1.0]. High Risk: Score &gt;= 0.70 | Medium Risk: 0.40 - 0.69 | Low Risk: &lt; 0.40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3383280" cy="155448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2D4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493008"/>
            <a:ext cx="2926080" cy="1152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8FAFC"/>
                </a:solidFill>
                <a:latin typeface="Segoe UI"/>
              </a:defRPr>
            </a:pPr>
            <a:r>
              <a:t>0.30 · Proximity (P)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  <a:latin typeface="Segoe UI"/>
              </a:defRPr>
            </a:pPr>
            <a:r>
              <a:t>CORE PROXIMITY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Exponential Decay: P = exp(-d / d0) where d is distance to village perimeter; approaches 1.0 when d &lt; 0.5 km.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291840"/>
            <a:ext cx="3383280" cy="155448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2D4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3493008"/>
            <a:ext cx="2926080" cy="1152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8FAFC"/>
                </a:solidFill>
                <a:latin typeface="Segoe UI"/>
              </a:defRPr>
            </a:pPr>
            <a:r>
              <a:t>0.20 · Movement Recency (M)</a:t>
            </a:r>
          </a:p>
          <a:p>
            <a:pPr>
              <a:spcBef>
                <a:spcPts val="200"/>
              </a:spcBef>
              <a:defRPr sz="950" b="1">
                <a:solidFill>
                  <a:srgbClr val="06B6D4"/>
                </a:solidFill>
                <a:latin typeface="Segoe UI"/>
              </a:defRPr>
            </a:pPr>
            <a:r>
              <a:t>RECENCY WEIGHT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Time Decay: M = max(0, 1 - (delta_t / 360)); sightings in the last 60 minutes receive maximum weight.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291840"/>
            <a:ext cx="3383280" cy="155448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2D4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3493008"/>
            <a:ext cx="2926080" cy="1152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8FAFC"/>
                </a:solidFill>
                <a:latin typeface="Segoe UI"/>
              </a:defRPr>
            </a:pPr>
            <a:r>
              <a:t>0.15 · Time of Day (T)</a:t>
            </a:r>
          </a:p>
          <a:p>
            <a:pPr>
              <a:spcBef>
                <a:spcPts val="200"/>
              </a:spcBef>
              <a:defRPr sz="950" b="1">
                <a:solidFill>
                  <a:srgbClr val="F59E0B"/>
                </a:solidFill>
                <a:latin typeface="Segoe UI"/>
              </a:defRPr>
            </a:pPr>
            <a:r>
              <a:t>BEHAVIORAL RHYTHM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Diurnal Curve: T = 0.95 during nocturnal hours (20:00 - 05:00); T = 0.20 during midday solar peak.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29200"/>
            <a:ext cx="3383280" cy="155448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2D4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230368"/>
            <a:ext cx="2926080" cy="1152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8FAFC"/>
                </a:solidFill>
                <a:latin typeface="Segoe UI"/>
              </a:defRPr>
            </a:pPr>
            <a:r>
              <a:t>0.15 · Livestock Density (L)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  <a:latin typeface="Segoe UI"/>
              </a:defRPr>
            </a:pPr>
            <a:r>
              <a:t>PREY ATTRACTION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Vulnerability Factor: Normalized cattle and goat population in surrounding open corrals (Maldhari Nesda).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5029200"/>
            <a:ext cx="3383280" cy="155448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2D4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5230368"/>
            <a:ext cx="2926080" cy="1152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8FAFC"/>
                </a:solidFill>
                <a:latin typeface="Segoe UI"/>
              </a:defRPr>
            </a:pPr>
            <a:r>
              <a:t>0.10 · Historical Incidents (H)</a:t>
            </a:r>
          </a:p>
          <a:p>
            <a:pPr>
              <a:spcBef>
                <a:spcPts val="200"/>
              </a:spcBef>
              <a:defRPr sz="950" b="1">
                <a:solidFill>
                  <a:srgbClr val="06B6D4"/>
                </a:solidFill>
                <a:latin typeface="Segoe UI"/>
              </a:defRPr>
            </a:pPr>
            <a:r>
              <a:t>PAST ENCOUNTERS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30-Day Density: Frequency of past conflict encounters recorded in the same 2km spatial grid cell.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5029200"/>
            <a:ext cx="3383280" cy="155448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2D4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5230368"/>
            <a:ext cx="2926080" cy="1152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8FAFC"/>
                </a:solidFill>
                <a:latin typeface="Segoe UI"/>
              </a:defRPr>
            </a:pPr>
            <a:r>
              <a:t>0.10 · Environment (E)</a:t>
            </a:r>
          </a:p>
          <a:p>
            <a:pPr>
              <a:spcBef>
                <a:spcPts val="200"/>
              </a:spcBef>
              <a:defRPr sz="950" b="1">
                <a:solidFill>
                  <a:srgbClr val="F59E0B"/>
                </a:solidFill>
                <a:latin typeface="Segoe UI"/>
              </a:defRPr>
            </a:pPr>
            <a:r>
              <a:t>TERRAIN COVER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Ecological Features: Riparian river corridors, dense Prosopis juliflora scrub cover, and waterbody proximity.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0B981"/>
                </a:solidFill>
                <a:latin typeface="Segoe UI"/>
              </a:defRPr>
            </a:pPr>
            <a:r>
              <a:t>SLIDE 13/23  ·  REAL-TIME TELEMETRY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Sub-Second Real-Time Synchronization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Segoe UI"/>
              </a:defRPr>
            </a:pPr>
            <a:r>
              <a:t>High-throughput WebSocket streaming (Port 8765) backed by Server-Sent Events (SSE) and zero-poll push.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12080" cy="438912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2D4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21408"/>
            <a:ext cx="4754880" cy="3986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8FAFC"/>
                </a:solidFill>
                <a:latin typeface="Segoe UI"/>
              </a:defRPr>
            </a:pPr>
            <a:r>
              <a:t>WebSocket Push Architecture (Port 8765)</a:t>
            </a:r>
          </a:p>
          <a:p>
            <a:pPr>
              <a:spcBef>
                <a:spcPts val="200"/>
              </a:spcBef>
              <a:defRPr sz="950" b="1">
                <a:solidFill>
                  <a:srgbClr val="06B6D4"/>
                </a:solidFill>
                <a:latin typeface="Segoe UI"/>
              </a:defRPr>
            </a:pPr>
            <a:r>
              <a:t>WEBSOCKET STREAM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AsyncIO WebSocket Server: Persistent bi-directional connection between forest servers and client devices.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Instant Event Dispatch: When an officer updates a threat level or a sensor triggers, payload pushes in &lt; 50ms.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websocat &amp; Browser Compatible: Fully compatible with standard CLI diagnostic tools, mobile browsers, and desktop dashboards.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Zero Polling Overhead: Eliminates wasteful continuous HTTP requests, reducing mobile battery consumption by 70%.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Heartbeat &amp; Auto-Reconnect: Automatic ping-pong liveness detection with 4-second exponential backoff reconnection.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38912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2D4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121408"/>
            <a:ext cx="4754880" cy="3986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8FAFC"/>
                </a:solidFill>
                <a:latin typeface="Segoe UI"/>
              </a:defRPr>
            </a:pPr>
            <a:r>
              <a:t>Fail-Safe SSE &amp; Cross-Device Sync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  <a:latin typeface="Segoe UI"/>
              </a:defRPr>
            </a:pPr>
            <a:r>
              <a:t>FAIL-SAFE RESILIENCE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Server-Sent Events (/api/events): Automatic transparent fallback for 2G/3G mobile networks where WebSockets may be throttled.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Cross-Device Coherence: Officer modifications on desktop instantly propagate to field guard phones and citizen radars.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Conflict Resolution: Timestamped atomic event stream ensures all devices reflect the same single source of truth.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Bandwidth Optimized: Payloads are ultra-compact JSON (&lt; 200 bytes per event), ensuring operation even on weak rural signals.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0B981"/>
                </a:solidFill>
                <a:latin typeface="Segoe UI"/>
              </a:defRPr>
            </a:pPr>
            <a:r>
              <a:t>SLIDE 14/23  ·  OFFICER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Forest Officer Tactical Command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Segoe UI"/>
              </a:defRPr>
            </a:pPr>
            <a:r>
              <a:t>Mission-critical operational awareness interface built for Range Forest Officers (RFOs) and Beat Guards.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12080" cy="438912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2D4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21408"/>
            <a:ext cx="4754880" cy="3986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8FAFC"/>
                </a:solidFill>
                <a:latin typeface="Segoe UI"/>
              </a:defRPr>
            </a:pPr>
            <a:r>
              <a:t>Tactical GIS &amp; Live Telemetry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  <a:latin typeface="Segoe UI"/>
              </a:defRPr>
            </a:pPr>
            <a:r>
              <a:t>GIS MISSION CONTROL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Interactive Leaflet GIS Map: Real-time spatial visualization of wildlife GPS collar tracks, camera trap nodes, and patrol vehicles.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Layer Controls: Toggle village safety perimeters, wildlife sanctuaries, historical hotspots, and perennial water holes.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Predator Proximity Vectors: Displays live distance vectors and approaching bearings towards agricultural borders.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Live Status Badges: Instant visual cues (Red/Critical, Amber/Medium, Green/Normal) across all monitored sectors.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38912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2D4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121408"/>
            <a:ext cx="4754880" cy="3986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8FAFC"/>
                </a:solidFill>
                <a:latin typeface="Segoe UI"/>
              </a:defRPr>
            </a:pPr>
            <a:r>
              <a:t>Operational Control &amp; Governance</a:t>
            </a:r>
          </a:p>
          <a:p>
            <a:pPr>
              <a:spcBef>
                <a:spcPts val="200"/>
              </a:spcBef>
              <a:defRPr sz="950" b="1">
                <a:solidFill>
                  <a:srgbClr val="F59E0B"/>
                </a:solidFill>
                <a:latin typeface="Segoe UI"/>
              </a:defRPr>
            </a:pPr>
            <a:r>
              <a:t>COMMAND &amp; DISPATCH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Village Risk Overview Grid: Grid displaying all regional villages with one-click manual threat level override capability.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Human-in-the-Loop Approval: Incoming AI alerts and crowdsourced citizen sightings queue for officer verification.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RRT Dispatch Hub: One-click deployment of Rapid Response Teams with automated equipment checklists.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Immutable Audit Trail: Records officer actions, timestamped broadcast history, and incident response times.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0B981"/>
                </a:solidFill>
                <a:latin typeface="Segoe UI"/>
              </a:defRPr>
            </a:pPr>
            <a:r>
              <a:t>SLIDE 15/23  ·  CITIZEN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Citizen Coexistence &amp; Safety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Segoe UI"/>
              </a:defRPr>
            </a:pPr>
            <a:r>
              <a:t>Vernacular, mobile-first interface designed to empower local villagers and pastoralist Maldharis.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12080" cy="438912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2D4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21408"/>
            <a:ext cx="4754880" cy="3986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8FAFC"/>
                </a:solidFill>
                <a:latin typeface="Segoe UI"/>
              </a:defRPr>
            </a:pPr>
            <a:r>
              <a:t>On-Demand Village Safety Radar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  <a:latin typeface="Segoe UI"/>
              </a:defRPr>
            </a:pPr>
            <a:r>
              <a:t>VILLAGE SAFETY RADAR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User-Triggered Evaluation: Villagers select their village or tap 'Detect My Nearest Village' via GPS to instantly evaluate local safety.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Clear Threat Indicators: Displays verified threat levels (HIGH / MEDIUM / LOW) and current distance to nearest carnivore.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No Auto-Flicker: Evaluates on demand when requested by the user, eliminating jarring UI refreshes and conserving mobile data.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Trilingual UI: Complete Gujarati language support (સાસણ ગીર, ધારી, તાલાલા) with clear iconography for low-literacy users.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38912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2D4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121408"/>
            <a:ext cx="4754880" cy="3986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8FAFC"/>
                </a:solidFill>
                <a:latin typeface="Segoe UI"/>
              </a:defRPr>
            </a:pPr>
            <a:r>
              <a:t>Life-Saving Advisories &amp; Emergency SOS</a:t>
            </a:r>
          </a:p>
          <a:p>
            <a:pPr>
              <a:spcBef>
                <a:spcPts val="200"/>
              </a:spcBef>
              <a:defRPr sz="950" b="1">
                <a:solidFill>
                  <a:srgbClr val="06B6D4"/>
                </a:solidFill>
                <a:latin typeface="Segoe UI"/>
              </a:defRPr>
            </a:pPr>
            <a:r>
              <a:t>CITIZEN PROTECTION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Contextual Safety Advisories: Dynamic recommendations based on current threat level (e.g., 'Lock cattle in pens', 'Carry torch at night').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One-Touch 1926 SOS Helpline: Direct speed dial button connecting to the Gujarat Forest Department emergency control room.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Fast Sighting Crowdsourcing: Allows citizens to report animal sightings with automatic GPS capture and photo proof.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Claim Status Tracking: Instant lookup of pending ex-gratia compensation claims with step-by-step progress bars.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0B981"/>
                </a:solidFill>
                <a:latin typeface="Segoe UI"/>
              </a:defRPr>
            </a:pPr>
            <a:r>
              <a:t>SLIDE 16/23  ·  COMMUNITY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Crowdsourced Sighting &amp; Verification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Segoe UI"/>
              </a:defRPr>
            </a:pPr>
            <a:r>
              <a:t>Transforming rural community vigilance into authenticated institutional early warning intelligence.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468880" cy="438912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2D4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21408"/>
            <a:ext cx="2011680" cy="3986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8FAFC"/>
                </a:solidFill>
                <a:latin typeface="Segoe UI"/>
              </a:defRPr>
            </a:pPr>
            <a:r>
              <a:t>1. SIGHTING CAPTURE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  <a:latin typeface="Segoe UI"/>
              </a:defRPr>
            </a:pPr>
            <a:r>
              <a:t>COMMUNITY INPUT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Farmer / Citizen: Spots lion, leopard, or pugmark trail near farm borders.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Mobile App: Captures photo proof, selects species, and auto-fetches precise GPS coordinates.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Offline Queue: Saves report locally if cellular signal is weak, auto-syncing upon reconnect.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920240"/>
            <a:ext cx="2468880" cy="438912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2D4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121408"/>
            <a:ext cx="2011680" cy="3986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8FAFC"/>
                </a:solidFill>
                <a:latin typeface="Segoe UI"/>
              </a:defRPr>
            </a:pPr>
            <a:r>
              <a:t>2. ANTI-SPOOF AI</a:t>
            </a:r>
          </a:p>
          <a:p>
            <a:pPr>
              <a:spcBef>
                <a:spcPts val="200"/>
              </a:spcBef>
              <a:defRPr sz="950" b="1">
                <a:solidFill>
                  <a:srgbClr val="06B6D4"/>
                </a:solidFill>
                <a:latin typeface="Segoe UI"/>
              </a:defRPr>
            </a:pPr>
            <a:r>
              <a:t>VALIDATION FILTER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EXIF Verification: Validates image capture timestamp and geolocation metadata.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Duplicate Detection: Compares visual hashes to discard recycled or internet images.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Species Classifier: Initial AI confidence check on uploaded photo.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2468880" cy="438912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2D4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121408"/>
            <a:ext cx="2011680" cy="3986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8FAFC"/>
                </a:solidFill>
                <a:latin typeface="Segoe UI"/>
              </a:defRPr>
            </a:pPr>
            <a:r>
              <a:t>3. OFFICER TRIAGE</a:t>
            </a:r>
          </a:p>
          <a:p>
            <a:pPr>
              <a:spcBef>
                <a:spcPts val="200"/>
              </a:spcBef>
              <a:defRPr sz="950" b="1">
                <a:solidFill>
                  <a:srgbClr val="F59E0B"/>
                </a:solidFill>
                <a:latin typeface="Segoe UI"/>
              </a:defRPr>
            </a:pPr>
            <a:r>
              <a:t>OFFICER APPROVAL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Command Queue: Report appears instantly in Forest Officer dashboard as 'Pending Review'.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One-Click Verify: Range officer inspects photo, location, and beat guard notes.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Human Discretion: Officer approves, modifies threat severity, or rejects fake reports.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920240"/>
            <a:ext cx="2468880" cy="438912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2D4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9720" y="2121408"/>
            <a:ext cx="2011680" cy="3986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8FAFC"/>
                </a:solidFill>
                <a:latin typeface="Segoe UI"/>
              </a:defRPr>
            </a:pPr>
            <a:r>
              <a:t>4. GEO-BROADCAST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  <a:latin typeface="Segoe UI"/>
              </a:defRPr>
            </a:pPr>
            <a:r>
              <a:t>ACTION &amp; WARNING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Instant Alert: Approved sighting triggers automated trilingual warnings to surrounding villages.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RRT Mobilized: Nearest beat patrol vehicle receives dispatch coordinates.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Radar Updated: Citizen safety radar reflects the new authenticated threat level.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0B981"/>
                </a:solidFill>
                <a:latin typeface="Segoe UI"/>
              </a:defRPr>
            </a:pPr>
            <a:r>
              <a:t>SLIDE 17/23  ·  HARDWARE &amp; EDGE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Edge Hardware &amp; Off-Grid Sensor Fusion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Segoe UI"/>
              </a:defRPr>
            </a:pPr>
            <a:r>
              <a:t>Ruggedized, low-power sensor nodes built for remote jungle corridors without reliable grid power or cellular coverage.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12080" cy="438912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2D4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21408"/>
            <a:ext cx="4754880" cy="3986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8FAFC"/>
                </a:solidFill>
                <a:latin typeface="Segoe UI"/>
              </a:defRPr>
            </a:pPr>
            <a:r>
              <a:t>Edge AI Camera Traps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  <a:latin typeface="Segoe UI"/>
              </a:defRPr>
            </a:pPr>
            <a:r>
              <a:t>CAMERA TRAP HARDWARE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Dual Sensor Fusion: Passive Infrared (PIR) + Thermal Imaging sensors for day and night detection.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On-Device TinyML: Runs lightweight YOLO-tiny model on edge compute (Raspberry Pi / Jetson Nano) to detect lions and leopards.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Bandwidth Reduction: Transmits only verified metadata and compressed thumbnail crops rather than continuous video streams.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Solar &amp; Battery: Integrated 20W monocrystalline solar panel with 12V LiFePO4 battery pack for continuous 24/7 off-grid operation.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38912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2D4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121408"/>
            <a:ext cx="4754880" cy="3986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8FAFC"/>
                </a:solidFill>
                <a:latin typeface="Segoe UI"/>
              </a:defRPr>
            </a:pPr>
            <a:r>
              <a:t>LoRaWAN &amp; Bioacoustic Nodes</a:t>
            </a:r>
          </a:p>
          <a:p>
            <a:pPr>
              <a:spcBef>
                <a:spcPts val="200"/>
              </a:spcBef>
              <a:defRPr sz="950" b="1">
                <a:solidFill>
                  <a:srgbClr val="06B6D4"/>
                </a:solidFill>
                <a:latin typeface="Segoe UI"/>
              </a:defRPr>
            </a:pPr>
            <a:r>
              <a:t>TELEMETRY &amp; MESH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Long-Range LoRaWAN Mesh: Transmits telemetry across 15+ km line-of-sight directly to elevated forest watchtower gateways.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Bioacoustic Acoustic Nodes: Continuous audio monitoring tuned for low-frequency carnivore roars and distress vocalizations.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Ruggedized Enclosures: IP67 weatherproof and animal-resistant casings designed to withstand monsoon rains and dust.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Minimal Maintenance: Designed for 2-year maintenance cycles in remote protected sanctuary zones.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0B981"/>
                </a:solidFill>
                <a:latin typeface="Segoe UI"/>
              </a:defRPr>
            </a:pPr>
            <a:r>
              <a:t>SLIDE 18/23  ·  CYBERSECURITY &amp; ETHICS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Security, Anti-Poaching &amp; Wildlife Privacy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Segoe UI"/>
              </a:defRPr>
            </a:pPr>
            <a:r>
              <a:t>Ensuring real-time telemetry cannot be exploited by poachers, illegal wildlife syndicates, or unauthorized actors.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12080" cy="438912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2D4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21408"/>
            <a:ext cx="4754880" cy="3986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8FAFC"/>
                </a:solidFill>
                <a:latin typeface="Segoe UI"/>
              </a:defRPr>
            </a:pPr>
            <a:r>
              <a:t>Zero-Knowledge Coordinate Obfuscation</a:t>
            </a:r>
          </a:p>
          <a:p>
            <a:pPr>
              <a:spcBef>
                <a:spcPts val="200"/>
              </a:spcBef>
              <a:defRPr sz="950" b="1">
                <a:solidFill>
                  <a:srgbClr val="F43F5E"/>
                </a:solidFill>
                <a:latin typeface="Segoe UI"/>
              </a:defRPr>
            </a:pPr>
            <a:r>
              <a:t>ANTI-POACHING SAFEGUARDS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Poaching Risk Mitigation: Exact GPS collar and camera trap coordinates are strictly restricted to authenticated Forest Officers.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Public Radar Obfuscation: The public citizen portal only displays relative proximity (e.g., 'Within 1.2 km of village') without publishing raw lat/lon.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Spatial Noise Addition: Public heatmap displays apply differential privacy noise to prevent pride den location tracking.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Zero Public Collar Feeds: Radio telemetry frequencies and collar IDs are encrypted end-to-end.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38912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2D4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121408"/>
            <a:ext cx="4754880" cy="3986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8FAFC"/>
                </a:solidFill>
                <a:latin typeface="Segoe UI"/>
              </a:defRPr>
            </a:pPr>
            <a:r>
              <a:t>Role-Based Access Control &amp; Integrity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  <a:latin typeface="Segoe UI"/>
              </a:defRPr>
            </a:pPr>
            <a:r>
              <a:t>DATA GOVERNANCE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Role Hierarchy: Strict permission tiers: Range Forest Officer (RFO), Beat Guard, Veterinarian, and Public Citizen.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Cryptographic Audit Trail: All threat level modifications, alert dispatches, and compensation approvals are immutably logged.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Encrypted Telemetry: WSS (WebSocket Secure) and HTTPS encryption across all sensor and client endpoints.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OWASP Compliance: Sanitized API inputs, rate limiting, and protection against injection and spoofing attacks.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0B981"/>
                </a:solidFill>
                <a:latin typeface="Segoe UI"/>
              </a:defRPr>
            </a:pPr>
            <a:r>
              <a:t>SLIDE 19/23  ·  QUANTIFIABLE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Measurable Outcomes: Safety, Ecology &amp;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Segoe UI"/>
              </a:defRPr>
            </a:pPr>
            <a:r>
              <a:t>Projected field outcomes across human casualty prevention, wildlife conservation, and rural livelihood stability.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12080" cy="210312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84832"/>
            <a:ext cx="4846320" cy="1773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B981"/>
                </a:solidFill>
                <a:latin typeface="Segoe UI"/>
              </a:defRPr>
            </a:pPr>
            <a:r>
              <a:t>-85% CASUALTIES</a:t>
            </a:r>
          </a:p>
          <a:p>
            <a:pPr>
              <a:spcBef>
                <a:spcPts val="300"/>
              </a:spcBef>
              <a:defRPr sz="1150" b="1">
                <a:solidFill>
                  <a:srgbClr val="F8FAFC"/>
                </a:solidFill>
                <a:latin typeface="Segoe UI"/>
              </a:defRPr>
            </a:pPr>
            <a:r>
              <a:t>Reduction in Human-Carnivore Encounters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Early warnings provide 20 to 45 minutes of actionable lead time for farmers to return safely from fields.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210312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084832"/>
            <a:ext cx="4846320" cy="1773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59E0B"/>
                </a:solidFill>
                <a:latin typeface="Segoe UI"/>
              </a:defRPr>
            </a:pPr>
            <a:r>
              <a:t>-90% RETALIATION</a:t>
            </a:r>
          </a:p>
          <a:p>
            <a:pPr>
              <a:spcBef>
                <a:spcPts val="300"/>
              </a:spcBef>
              <a:defRPr sz="1150" b="1">
                <a:solidFill>
                  <a:srgbClr val="F8FAFC"/>
                </a:solidFill>
                <a:latin typeface="Segoe UI"/>
              </a:defRPr>
            </a:pPr>
            <a:r>
              <a:t>Drop in Retaliatory Poisonings &amp; Electrocutions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Fast-track compensation and real-time alerts eliminate economic despair and panic-driven retaliation.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5212080" cy="210312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370831"/>
            <a:ext cx="4846320" cy="1773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6B6D4"/>
                </a:solidFill>
                <a:latin typeface="Segoe UI"/>
              </a:defRPr>
            </a:pPr>
            <a:r>
              <a:t>48h vs 180 DAYS</a:t>
            </a:r>
          </a:p>
          <a:p>
            <a:pPr>
              <a:spcBef>
                <a:spcPts val="300"/>
              </a:spcBef>
              <a:defRPr sz="1150" b="1">
                <a:solidFill>
                  <a:srgbClr val="F8FAFC"/>
                </a:solidFill>
                <a:latin typeface="Segoe UI"/>
              </a:defRPr>
            </a:pPr>
            <a:r>
              <a:t>Ex-Gratia Compensation Disbursement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Reduces average claim settlement timeline from 6 months to 48 hours via digital Panchnama and DBT.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206240"/>
            <a:ext cx="5212080" cy="210312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370831"/>
            <a:ext cx="4846320" cy="1773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B981"/>
                </a:solidFill>
                <a:latin typeface="Segoe UI"/>
              </a:defRPr>
            </a:pPr>
            <a:r>
              <a:t>200,000+ CITIZENS</a:t>
            </a:r>
          </a:p>
          <a:p>
            <a:pPr>
              <a:spcBef>
                <a:spcPts val="300"/>
              </a:spcBef>
              <a:defRPr sz="1150" b="1">
                <a:solidFill>
                  <a:srgbClr val="F8FAFC"/>
                </a:solidFill>
                <a:latin typeface="Segoe UI"/>
              </a:defRPr>
            </a:pPr>
            <a:r>
              <a:t>Rural Villagers &amp; Pastoralists Safeguarded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Covers 120+ peripheral villages across Gir Somnath, Amreli, Junagadh, and Bhavnagar districts.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0B981"/>
                </a:solidFill>
                <a:latin typeface="Segoe UI"/>
              </a:defRPr>
            </a:pPr>
            <a:r>
              <a:t>SLIDE 20/23  ·  POLICY &amp; GLOBAL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Alignment with National Policy &amp; UN SDGs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Segoe UI"/>
              </a:defRPr>
            </a:pPr>
            <a:r>
              <a:t>Directly supporting Government of India conservation mandates and United Nations Sustainable Development Goals.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12080" cy="438912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2D4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21408"/>
            <a:ext cx="4754880" cy="3986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8FAFC"/>
                </a:solidFill>
                <a:latin typeface="Segoe UI"/>
              </a:defRPr>
            </a:pPr>
            <a:r>
              <a:t>National Policy Alignment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  <a:latin typeface="Segoe UI"/>
              </a:defRPr>
            </a:pPr>
            <a:r>
              <a:t>INDIAN GOVERNMENT MISSIONS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Project Lion (Govt of India): Directly supports the national mission for ecological surveillance and habitat security of Asiatic lions.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MoEFCC HWC Guidelines 2023: Fulfills Ministry of Environment, Forest and Climate Change protocols for technology-driven early warning and rapid relief.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Digital India Mission: Replaces legacy paper-based forestry workflows with cloud-native, open-standard digital infrastructure.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Gujarat Forest Dept Mandate: Empowers frontline forest staff and enhances grassroots institutional credibility among Maldhari tribes.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38912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2D4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121408"/>
            <a:ext cx="4754880" cy="3986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8FAFC"/>
                </a:solidFill>
                <a:latin typeface="Segoe UI"/>
              </a:defRPr>
            </a:pPr>
            <a:r>
              <a:t>United Nations SDGs</a:t>
            </a:r>
          </a:p>
          <a:p>
            <a:pPr>
              <a:spcBef>
                <a:spcPts val="200"/>
              </a:spcBef>
              <a:defRPr sz="950" b="1">
                <a:solidFill>
                  <a:srgbClr val="06B6D4"/>
                </a:solidFill>
                <a:latin typeface="Segoe UI"/>
              </a:defRPr>
            </a:pPr>
            <a:r>
              <a:t>GLOBAL SUSTAINABILITY TARGETS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SDG 15: Life on Land: Protecting endangered wildlife, halting biodiversity loss, and safeguarding fragile dry deciduous ecosystems.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SDG 11: Sustainable Communities: Creating resilient, safe rural agrarian habitations coexisting peacefully alongside natural habitats.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SDG 3: Good Health &amp; Well-being: Eliminating traumatic injuries, fatalities, and acute psychological stress among agrarian workers.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SDG 9: Industry, Innovation &amp; Infrastructure: Pioneering state-of-the-art edge AI, IoT, and automated multi-agent systems for conservation.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0B981"/>
                </a:solidFill>
                <a:latin typeface="Segoe UI"/>
              </a:defRPr>
            </a:pPr>
            <a:r>
              <a:t>SLIDE 21/23  ·  EXPANSION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Pan-India Scalability: Beyond Gir to Multi-Species Corridors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Segoe UI"/>
              </a:defRPr>
            </a:pPr>
            <a:r>
              <a:t>A modular, extensible platform engineered for rapid adaptation across India's diverse wildlife conflict zones.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83280" cy="438912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2D4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21408"/>
            <a:ext cx="2926080" cy="3986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8FAFC"/>
                </a:solidFill>
                <a:latin typeface="Segoe UI"/>
              </a:defRPr>
            </a:pPr>
            <a:r>
              <a:t>PHASE 1 (M1 - M6): GIR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  <a:latin typeface="Segoe UI"/>
              </a:defRPr>
            </a:pPr>
            <a:r>
              <a:t>LION ECOSYSTEM (ACTIVE)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Geography: Greater Gir Landscape (Gir Somnath, Amreli, Junagadh, Bhavnagar).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Target Species: Asiatic Lion (700+) &amp; Indian Leopard (500+).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Milestones: Full deployment across 120 peripheral villages, integration with Gujarat Forest Range Offices, LoRaWAN gateway network.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383280" cy="438912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2D4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121408"/>
            <a:ext cx="2926080" cy="3986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8FAFC"/>
                </a:solidFill>
                <a:latin typeface="Segoe UI"/>
              </a:defRPr>
            </a:pPr>
            <a:r>
              <a:t>PHASE 2 (M7 - M12): ELEPHANTS</a:t>
            </a:r>
          </a:p>
          <a:p>
            <a:pPr>
              <a:spcBef>
                <a:spcPts val="200"/>
              </a:spcBef>
              <a:defRPr sz="950" b="1">
                <a:solidFill>
                  <a:srgbClr val="06B6D4"/>
                </a:solidFill>
                <a:latin typeface="Segoe UI"/>
              </a:defRPr>
            </a:pPr>
            <a:r>
              <a:t>ELEPHANT LANDSCAPES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Geography: Elephant Corridors in Assam, Odisha, and Western Ghats (Kerala/TN).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Target Species: Asian Elephant (Elephas maximus).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Adaptations: Seismic footstep sensors, railway track acoustic early warning systems to prevent train collisions, crop-raiding perimeter sirens.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20240"/>
            <a:ext cx="3383280" cy="438912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2D4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121408"/>
            <a:ext cx="2926080" cy="3986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8FAFC"/>
                </a:solidFill>
                <a:latin typeface="Segoe UI"/>
              </a:defRPr>
            </a:pPr>
            <a:r>
              <a:t>PHASE 3 (M13 - M18): TIGERS</a:t>
            </a:r>
          </a:p>
          <a:p>
            <a:pPr>
              <a:spcBef>
                <a:spcPts val="200"/>
              </a:spcBef>
              <a:defRPr sz="950" b="1">
                <a:solidFill>
                  <a:srgbClr val="F59E0B"/>
                </a:solidFill>
                <a:latin typeface="Segoe UI"/>
              </a:defRPr>
            </a:pPr>
            <a:r>
              <a:t>TIGER RESERVES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Geography: Sundarbans Mangroves, Jim Corbett, and Tadoba-Andhari buffer zones.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Target Species: Bengal Tiger (Panthera tigris).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Adaptations: Pond barrier sensors for honey gatherers in Sundarbans, smart solar fencing triggers, multi-state tiger corridor tracking.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0B981"/>
                </a:solidFill>
                <a:latin typeface="Segoe UI"/>
              </a:defRPr>
            </a:pPr>
            <a:r>
              <a:t>SLIDE 22/23  ·  TECH STACK &amp; FEASIBILITY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Production-Ready Technology Stack &amp; Feasibility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Segoe UI"/>
              </a:defRPr>
            </a:pPr>
            <a:r>
              <a:t>Built with lightweight, high-performance, open-source technologies for minimal latency and low maintenance costs.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12080" cy="438912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2D4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21408"/>
            <a:ext cx="4754880" cy="3986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8FAFC"/>
                </a:solidFill>
                <a:latin typeface="Segoe UI"/>
              </a:defRPr>
            </a:pPr>
            <a:r>
              <a:t>Modern, Zero-Bloat Tech Stack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  <a:latin typeface="Segoe UI"/>
              </a:defRPr>
            </a:pPr>
            <a:r>
              <a:t>SOFTWARE ENGINEERING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Backend Services: Python 3.14, FastAPI (high-throughput async REST), Flask (lightweight SSR), AsyncIO WebSockets.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Machine Learning: Scikit-Learn (Random Forest corridor classifier), NumPy, Spatial Analytics (DBSCAN &amp; KDE).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Frontend &amp; GIS: HTML5, Vanilla JavaScript (zero framework bloat), Leaflet.js interactive maps, CSS3 responsive grid.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Edge Computing: YOLO-tiny on Raspberry Pi / Jetson Nano, LoRaWAN mesh communication protocol.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Deployment: Docker containerization, Uvicorn/Gunicorn, cloud/edge hybrid deployment on Render/AWS.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38912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2D4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121408"/>
            <a:ext cx="4754880" cy="3986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8FAFC"/>
                </a:solidFill>
                <a:latin typeface="Segoe UI"/>
              </a:defRPr>
            </a:pPr>
            <a:r>
              <a:t>Feasibility &amp; Cost Effectiveness</a:t>
            </a:r>
          </a:p>
          <a:p>
            <a:pPr>
              <a:spcBef>
                <a:spcPts val="200"/>
              </a:spcBef>
              <a:defRPr sz="950" b="1">
                <a:solidFill>
                  <a:srgbClr val="F59E0B"/>
                </a:solidFill>
                <a:latin typeface="Segoe UI"/>
              </a:defRPr>
            </a:pPr>
            <a:r>
              <a:t>FINANCIAL VIABILITY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Zero Recurring Licensing Fees: Core platform built on 100% open-source software, eliminating expensive proprietary licenses.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Low-Cost Edge Hardware: Off-the-shelf sensor nodes cost &lt; ₹15,000 each, compared to ₹1,50,000 for legacy military-grade systems.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Low Operational Overhead: Solar-powered nodes require minimal battery maintenance; cloud hosting costs under ₹8,000/month for 100 villages.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Government Integration: APIs easily interface with existing State e-Governance portals, Aadhaar DBT, and Forest Department GIS systems.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0B981"/>
                </a:solidFill>
                <a:latin typeface="Segoe UI"/>
              </a:defRPr>
            </a:pPr>
            <a:r>
              <a:t>SLIDE 23/23  ·  CONCLUSION &amp;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VanRakshak AI: Coexistence Through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Segoe UI"/>
              </a:defRPr>
            </a:pPr>
            <a:r>
              <a:t>A technological shield protecting India's rural communities while securing the future of the Asiatic Lion.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12080" cy="320040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2D4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21408"/>
            <a:ext cx="4754880" cy="2798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8FAFC"/>
                </a:solidFill>
                <a:latin typeface="Segoe UI"/>
              </a:defRPr>
            </a:pPr>
            <a:r>
              <a:t>Why VanRakshak Wins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  <a:latin typeface="Segoe UI"/>
              </a:defRPr>
            </a:pPr>
            <a:r>
              <a:t>COMPETITIVE ADVANTAGE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End-to-End Working Prototype: Fully functional multi-agent AI pipeline, real-time WebSocket telemetry, and dual stakeholder portals.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Addresses Real Human Needs: Solves the farmer's fear of dusk encounters and the 6-month compensation delay.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Conservation Impact: Stops retaliatory killings, ensuring the last 700+ Asiatic lions thrive in harmony with local communities.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Ready for Immediate Pilot: Built and calibrated specifically for the real topography and villages of Gir Forest.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3200400"/>
          </a:xfrm>
          <a:prstGeom prst="roundRect">
            <a:avLst/>
          </a:prstGeom>
          <a:solidFill>
            <a:srgbClr val="13241D"/>
          </a:solidFill>
          <a:ln w="15240">
            <a:solidFill>
              <a:srgbClr val="2D4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121408"/>
            <a:ext cx="4754880" cy="2798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F8FAFC"/>
                </a:solidFill>
                <a:latin typeface="Segoe UI"/>
              </a:defRPr>
            </a:pPr>
            <a:r>
              <a:t>The Vision Ahead</a:t>
            </a:r>
          </a:p>
          <a:p>
            <a:pPr>
              <a:spcBef>
                <a:spcPts val="200"/>
              </a:spcBef>
              <a:defRPr sz="950" b="1">
                <a:solidFill>
                  <a:srgbClr val="06B6D4"/>
                </a:solidFill>
                <a:latin typeface="Segoe UI"/>
              </a:defRPr>
            </a:pPr>
            <a:r>
              <a:t>OUR PURPOSE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Human-Wildlife Harmony: Proving that technological innovation can turn conflict zones into models of peaceful coexistence.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Expanding Across India: From the lions of Gir to the elephants of Assam and the tigers of Sundarbans.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National Pride: VanRakshak: Honoring the frontline forest guards and indigenous Maldharis who protect our wild heritage.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03520"/>
            <a:ext cx="10728655" cy="1097280"/>
          </a:xfrm>
          <a:prstGeom prst="roundRect">
            <a:avLst/>
          </a:prstGeom>
          <a:solidFill>
            <a:srgbClr val="1A3027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39496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Segoe UI"/>
              </a:defRPr>
            </a:pPr>
            <a:r>
              <a:t>THANK YOU!  ·  READY FOR LIVE DEMONSTRATION &amp; TECHNICAL Q&amp;A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Team VanRakshak  |  Source Code &amp; Interactive Prototype Ready  |  Protecting the King of Gir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